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953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194560"/>
            <a:ext cx="8229600" cy="8229600"/>
          </a:xfrm>
          <a:prstGeom prst="ellipse">
            <a:avLst/>
          </a:prstGeom>
          <a:solidFill>
            <a:srgbClr val="1E6C2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20040"/>
            <a:ext cx="4297680" cy="1666156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/>
        </p:spPr>
      </p:sp>
      <p:pic>
        <p:nvPicPr>
          <p:cNvPr id="4" name="Image 0" descr="/home/claude/siyani-deck-v2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3840480" cy="12089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 HALO TECHNOLOGIES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Siyani — a multilingual AI companion helping South Africans find opportunity, guidance, and government services in one conversation.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 one gets left behind.”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TOGETHER. RISING TOGETHER.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in South Africa is scattered, not scarce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doors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Bursaries, funding, TVET, and government services each live behind their own website, office, or queue.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2402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leaves people out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283464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digital services assume English fluency, sidelining millions who think and transact in their home language.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2402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is generic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0" y="283464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engines return links, not a plan tailored to someone's age, province, and life stage.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806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isn't just inconvenience — it's bursaries missed, businesses never registered, and services never claimed.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Siyani: one trusted conversation, not a dozen websites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Siyani is a multilingual AI companion that gets to know a person once, then helps them navigate education, government services, and more — as one continuous relationship, not separate apps.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64592" cy="164592"/>
          </a:xfrm>
          <a:prstGeom prst="ellipse">
            <a:avLst/>
          </a:prstGeom>
          <a:solidFill>
            <a:srgbClr val="2889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who you are: age, province, status, goals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64592" cy="164592"/>
          </a:xfrm>
          <a:prstGeom prst="ellipse">
            <a:avLst/>
          </a:prstGeom>
          <a:solidFill>
            <a:srgbClr val="28893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749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Speaks your language — starting with 5, built for all 11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164592" cy="164592"/>
          </a:xfrm>
          <a:prstGeom prst="ellipse">
            <a:avLst/>
          </a:prstGeom>
          <a:solidFill>
            <a:srgbClr val="28893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434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a conversation into a personalised action plan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166360"/>
            <a:ext cx="164592" cy="164592"/>
          </a:xfrm>
          <a:prstGeom prst="ellipse">
            <a:avLst/>
          </a:prstGeom>
          <a:solidFill>
            <a:srgbClr val="28893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120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up with reminders you choose to receive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ecosystem across every stage of life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724912" cy="1371600"/>
          </a:xfrm>
          <a:prstGeom prst="roundRect">
            <a:avLst>
              <a:gd name="adj" fmla="val 6667"/>
            </a:avLst>
          </a:prstGeom>
          <a:solidFill>
            <a:srgbClr val="18181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65960"/>
            <a:ext cx="24505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64992" y="1965960"/>
            <a:ext cx="2724912" cy="1371600"/>
          </a:xfrm>
          <a:prstGeom prst="roundRect">
            <a:avLst>
              <a:gd name="adj" fmla="val 6667"/>
            </a:avLst>
          </a:prstGeom>
          <a:solidFill>
            <a:srgbClr val="181818"/>
          </a:solidFill>
          <a:ln/>
        </p:spPr>
      </p:sp>
      <p:sp>
        <p:nvSpPr>
          <p:cNvPr id="7" name="Text 5"/>
          <p:cNvSpPr/>
          <p:nvPr/>
        </p:nvSpPr>
        <p:spPr>
          <a:xfrm>
            <a:off x="3502152" y="1965960"/>
            <a:ext cx="24505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Services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1344" y="1965960"/>
            <a:ext cx="2724912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318504" y="1965960"/>
            <a:ext cx="24505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997696" y="1965960"/>
            <a:ext cx="2724912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9134856" y="1965960"/>
            <a:ext cx="24505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2724912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29000"/>
            <a:ext cx="24505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Information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64992" y="3429000"/>
            <a:ext cx="2724912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3502152" y="3429000"/>
            <a:ext cx="24505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Entrepreneurship Support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81344" y="3429000"/>
            <a:ext cx="2724912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6318504" y="3429000"/>
            <a:ext cx="24505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Opportunities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Highlighted: hackathon demo focus — the rest is Coming Soon, sequenced in the Product Roadmap.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trusted voice, in five languages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2834640" cy="4754880"/>
          </a:xfrm>
          <a:prstGeom prst="roundRect">
            <a:avLst>
              <a:gd name="adj" fmla="val 8065"/>
            </a:avLst>
          </a:prstGeom>
          <a:solidFill>
            <a:srgbClr val="181818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057400"/>
            <a:ext cx="2615184" cy="411480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Siyani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265176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272491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Avuxeni! Hi mina Siyani. Ndzi nga ku pfuna hi yini namuntlha?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325880" y="3611880"/>
            <a:ext cx="1828800" cy="594360"/>
          </a:xfrm>
          <a:prstGeom prst="roundRect">
            <a:avLst>
              <a:gd name="adj" fmla="val 18462"/>
            </a:avLst>
          </a:prstGeom>
          <a:solidFill>
            <a:srgbClr val="28893A"/>
          </a:solidFill>
          <a:ln/>
        </p:spPr>
      </p:sp>
      <p:sp>
        <p:nvSpPr>
          <p:cNvPr id="10" name="Text 8"/>
          <p:cNvSpPr/>
          <p:nvPr/>
        </p:nvSpPr>
        <p:spPr>
          <a:xfrm>
            <a:off x="1435608" y="36758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apply for a bursary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0" y="1828800"/>
            <a:ext cx="7223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9385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230428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I help you today?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0" y="2999232"/>
            <a:ext cx="7223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isiZulu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0" y="34747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Ngingakusiza kanjani namuhla?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0" y="4169664"/>
            <a:ext cx="7223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4279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Sepedi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464515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Nka go thuša bjang lehono?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0" y="5340096"/>
            <a:ext cx="7223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54498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Tshivenda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89120" y="581558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Ndi nga ni thusa hani namusi?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first hello to a personal action plan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18181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2167128"/>
            <a:ext cx="2103120" cy="0"/>
          </a:xfrm>
          <a:prstGeom prst="line">
            <a:avLst/>
          </a:prstGeom>
          <a:noFill/>
          <a:ln w="25400">
            <a:solidFill>
              <a:srgbClr val="28893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2606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language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English, isiZulu, Sepedi, Tshivenda, or Xitsonga.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37560" y="1920240"/>
            <a:ext cx="502920" cy="502920"/>
          </a:xfrm>
          <a:prstGeom prst="ellipse">
            <a:avLst/>
          </a:prstGeom>
          <a:solidFill>
            <a:srgbClr val="181818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931920" y="2167128"/>
            <a:ext cx="2103120" cy="0"/>
          </a:xfrm>
          <a:prstGeom prst="line">
            <a:avLst/>
          </a:prstGeom>
          <a:noFill/>
          <a:ln w="25400">
            <a:solidFill>
              <a:srgbClr val="28893A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337560" y="2606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Siyani about you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315468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age, province, and current status — learner, jobseeker, entrepreneur, and more.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502920" cy="502920"/>
          </a:xfrm>
          <a:prstGeom prst="ellipse">
            <a:avLst/>
          </a:prstGeom>
          <a:solidFill>
            <a:srgbClr val="181818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20840" y="2167128"/>
            <a:ext cx="2103120" cy="0"/>
          </a:xfrm>
          <a:prstGeom prst="line">
            <a:avLst/>
          </a:prstGeom>
          <a:noFill/>
          <a:ln w="25400">
            <a:solidFill>
              <a:srgbClr val="28893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126480" y="2606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focus areas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26480" y="315468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and government services — select one or both at once.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15400" y="1920240"/>
            <a:ext cx="502920" cy="502920"/>
          </a:xfrm>
          <a:prstGeom prst="ellipse">
            <a:avLst/>
          </a:prstGeom>
          <a:solidFill>
            <a:srgbClr val="181818"/>
          </a:solidFill>
          <a:ln/>
        </p:spPr>
      </p:sp>
      <p:sp>
        <p:nvSpPr>
          <p:cNvPr id="20" name="Text 18"/>
          <p:cNvSpPr/>
          <p:nvPr/>
        </p:nvSpPr>
        <p:spPr>
          <a:xfrm>
            <a:off x="89154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15400" y="2606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guided plan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915400" y="315468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Siyani builds one journey across every area you chose, with optional reminders.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0789920" cy="1234440"/>
          </a:xfrm>
          <a:prstGeom prst="roundRect">
            <a:avLst>
              <a:gd name="adj" fmla="val 8889"/>
            </a:avLst>
          </a:prstGeom>
          <a:solidFill>
            <a:srgbClr val="E9F3EA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029200"/>
            <a:ext cx="10149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Siyani is unsure what someone means, it asks a clarifying question instead of guessing — trust is the product.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DEMO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Siyani does live, today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vision spans seven life areas. For this build, Siyani goes deep on two — proving the model works before we widen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2A2A2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Bursary matching by province &amp; field of study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University and TVET pathway guidance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Career direction based on interests &amp; status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233172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2A2A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Services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31546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Funding &amp; grant opportunity guidance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3840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Business registration walkthroughs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45262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Plain-language explanations of official processes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&amp;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what you don't know, in five languages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and isiZulu have strong AI language support today. Sepedi, Tshivenda, and Xitsonga are earlier in that curve — so Siyani is built to recognise its own uncertainty rather than guess.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Siyani interprets the message and scores its own confidence.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269748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26280" y="34290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threshold, it asks a clarifying question in the user's language.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269748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a path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0" y="34290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still unclear, it offers to continue in English rather than mislead.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897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turns a technical limitation into a visible product value: Siyani is honest, not just fluent.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demo this week, built to scale after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18181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12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Delphi 12 FMX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(Android)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23360" y="210312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181818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2212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25603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Auth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PostgreSQL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0" y="210312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181818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2212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0" y="25603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Realtime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66160" y="2788920"/>
            <a:ext cx="457200" cy="0"/>
          </a:xfrm>
          <a:prstGeom prst="line">
            <a:avLst/>
          </a:prstGeom>
          <a:noFill/>
          <a:ln w="25400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40880" y="2788920"/>
            <a:ext cx="457200" cy="0"/>
          </a:xfrm>
          <a:prstGeom prst="line">
            <a:avLst/>
          </a:prstGeom>
          <a:noFill/>
          <a:ln w="25400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023360" y="3977640"/>
            <a:ext cx="4160520" cy="100584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397764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layer (TNetHTTPClient)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client to both services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3474720"/>
            <a:ext cx="0" cy="502920"/>
          </a:xfrm>
          <a:prstGeom prst="line">
            <a:avLst/>
          </a:prstGeom>
          <a:noFill/>
          <a:ln w="25400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48640" y="5303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Chosen to match current team experience — realistic within one week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6875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GitHub + Git for version control; Python for future AI microservices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07161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Path to scale (Coming Soon): Flutter for cross-platform, then Web and iOS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isn't a feature — it's the foundation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by design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17830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Siyani collects only what's needed to give useful guidance — nothing more.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79192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2A2A2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7919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first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2679192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is stored only after the user clearly agrees.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575304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2A2A2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75304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User-controlled deletion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3575304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delete their data at any time, in full.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471416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471416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POPIA-aligned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4471416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around South Africa's Protection of Personal Information Act from day one.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367528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2A2A2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36752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sold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31920" y="5367528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information is never sold or shared for advertising.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Siyani serves first, and how we reach them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&amp; Youth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Bursary, TVET &amp; career guidance in-language, reached via school &amp; campus partnerships.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1488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Jobseekers &amp; Entrepreneurs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88036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Funding, business registration &amp; career support, reached via community organisations.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1488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&amp; NGO Partners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288036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channel to reach citizens directly, reached via provincial digital-services engagement.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growth: community &amp; campus partnerships → provincial government pilots → national scale.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hackathon prototype to national platform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8181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MVP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+ Government Services, 5 languages, Delphi Android app, Supabase + Firebase backend.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20116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2402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Expansion (Coming Soon)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17720" y="297180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Finance &amp; Healthcare guidance, Reminder Centre, Flutter cross-platform rebuild.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20116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2402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Platform (Coming Soon)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12480" y="297180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11-language, 7-domain ecosystem across Web, iOS &amp; Android with government integrations.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that grows with impact, not against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607040" cy="1097280"/>
          </a:xfrm>
          <a:prstGeom prst="roundRect">
            <a:avLst>
              <a:gd name="adj" fmla="val 8333"/>
            </a:avLst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consumer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0" y="196596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guidance stays free; premium tier adds deeper planning &amp; priority reminders.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0607040" cy="1097280"/>
          </a:xfrm>
          <a:prstGeom prst="roundRect">
            <a:avLst>
              <a:gd name="adj" fmla="val 8333"/>
            </a:avLst>
          </a:prstGeom>
          <a:solidFill>
            <a:srgbClr val="2A2A2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918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&amp; NGO partnerships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72000" y="329184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Siyani as an official digital-services companion for provinces &amp; agencies.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10607040" cy="1097280"/>
          </a:xfrm>
          <a:prstGeom prst="roundRect">
            <a:avLst>
              <a:gd name="adj" fmla="val 8333"/>
            </a:avLst>
          </a:prstGeom>
          <a:solidFill>
            <a:srgbClr val="2A2A2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6177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guidance API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72000" y="461772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Siyani's guidance engine to universities, banks, and youth programmes.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MAD Halo Technologies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South African software &amp; digital transformation studio, already building live client platforms across education, business, and community sectors.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0607040" cy="2651760"/>
          </a:xfrm>
          <a:prstGeom prst="roundRect">
            <a:avLst>
              <a:gd name="adj" fmla="val 4138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asking for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Recognition &amp; mentorship to refine Siyani with government &amp; community partners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Introductions to provincial digital-services &amp; education stakeholders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Early pilot users to test real guidance journeys beyond the demo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7315200" cy="7315200"/>
          </a:xfrm>
          <a:prstGeom prst="ellipse">
            <a:avLst/>
          </a:prstGeom>
          <a:solidFill>
            <a:srgbClr val="1E6C2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874520"/>
            <a:ext cx="4663440" cy="1781294"/>
          </a:xfrm>
          <a:prstGeom prst="roundRect">
            <a:avLst>
              <a:gd name="adj" fmla="val 5133"/>
            </a:avLst>
          </a:prstGeom>
          <a:solidFill>
            <a:srgbClr val="FFFFFF"/>
          </a:solidFill>
          <a:ln/>
        </p:spPr>
      </p:sp>
      <p:pic>
        <p:nvPicPr>
          <p:cNvPr id="4" name="Image 0" descr="/home/claude/siyani-deck-v2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4206240" cy="13240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gets left behind.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5303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 welcome.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88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 HALO TECHNOLOGIES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1096</Words>
  <Application>Microsoft Office PowerPoint</Application>
  <PresentationFormat>Widescreen</PresentationFormat>
  <Paragraphs>171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Mmasechaba Malatjie</cp:lastModifiedBy>
  <cp:revision>1</cp:revision>
  <dcterms:created xsi:type="dcterms:W3CDTF">2026-07-30T20:02:59Z</dcterms:created>
  <dcterms:modified xsi:type="dcterms:W3CDTF">2026-07-30T20:33:52Z</dcterms:modified>
</cp:coreProperties>
</file>